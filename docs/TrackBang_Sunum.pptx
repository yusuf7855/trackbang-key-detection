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 Light"/>
              </a:rPr>
              <a:t>TrackBang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0">
                <a:solidFill>
                  <a:srgbClr val="A0A0A0"/>
                </a:solidFill>
                <a:latin typeface="Calibri Light"/>
              </a:rPr>
              <a:t>Audio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520440"/>
            <a:ext cx="54864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CCCCC"/>
                </a:solidFill>
                <a:latin typeface="Calibri Light"/>
              </a:rPr>
              <a:t>Müzikal Ton &amp; BPM Tespiti — Derin Sinir Ağları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634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 Light"/>
              </a:rPr>
              <a:t>Yusuf Kerim Sarıtaş  ·  221118047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 Light"/>
              </a:rPr>
              <a:t>Danışman: Dr. Öğr. Üyesi Nurettin Şenyer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 Light"/>
              </a:rPr>
              <a:t>Samsun Üniversitesi  ·  Yazılım Mühendisliği  ·  2025–2026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914400"/>
            <a:ext cx="2286000" cy="22860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0058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1E1E1E"/>
                </a:solidFill>
                <a:latin typeface="Calibri Light"/>
              </a:rPr>
              <a:t>v4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011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0A0A0"/>
                </a:solidFill>
                <a:latin typeface="Calibri Light"/>
              </a:rPr>
              <a:t>Hibrit CNN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01 —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 Light"/>
              </a:rPr>
              <a:t>DJ'ler ve Mekanlar
İçin Veri Boşluğu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47472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3566160" cy="32004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 Light"/>
              </a:rPr>
              <a:t>Spotify API Kapandı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880360"/>
            <a:ext cx="3108960" cy="182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Kasım 2024'te Spotify, BPM/Key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API'sini kapattı. Platformlar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veri kaynağını yitirdi.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194560"/>
            <a:ext cx="3566160" cy="32004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 Light"/>
              </a:rPr>
              <a:t>Lisans Sorunu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880360"/>
            <a:ext cx="3108960" cy="182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971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Türkiye'de %90+ mekan Spotify'ı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yasadışı kullanıyor.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MESAM/MÜ-YAP ceza riski.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2194560"/>
            <a:ext cx="3566160" cy="32004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 Light"/>
              </a:rPr>
              <a:t>Kalite Sorunu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880360"/>
            <a:ext cx="3108960" cy="182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297180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Mevcut servisler harmonik uyum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uygulamıyor. Geçişler rastgele,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A0A0A0"/>
                </a:solidFill>
                <a:latin typeface="Calibri Light"/>
              </a:rPr>
              <a:t>enerji yönetimi yok.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02 — Çözüm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 Light"/>
              </a:rPr>
              <a:t>Uçtan Uca Ses Analiz Motoru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155448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 Light"/>
              </a:rPr>
              <a:t>MP3
(30 sn)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28800"/>
            <a:ext cx="155448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288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 Light"/>
              </a:rPr>
              <a:t>HPSS
Ayrımı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28800"/>
            <a:ext cx="155448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18288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 Light"/>
              </a:rPr>
              <a:t>Chroma
CENS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828800"/>
            <a:ext cx="155448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8288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 Light"/>
              </a:rPr>
              <a:t>Hibrit
CNN v4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828800"/>
            <a:ext cx="1554480" cy="12801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1828800"/>
            <a:ext cx="1554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 Light"/>
              </a:rPr>
              <a:t>Key + BPM
Çıktısı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0A0A0"/>
                </a:solidFill>
                <a:latin typeface="Calibri Light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0A0A0"/>
                </a:solidFill>
                <a:latin typeface="Calibri Light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0A0A0"/>
                </a:solidFill>
                <a:latin typeface="Calibri Light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2402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0A0A0"/>
                </a:solidFill>
                <a:latin typeface="Calibri Light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12×1292
matris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858K
parametre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24612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24 sınıf +
regresyon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2062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 Light"/>
              </a:rPr>
              <a:t>Öne Çıkan Özellikler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 Light"/>
              </a:rPr>
              <a:t>— Camelot Uyumlu 24 Sınıf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 Light"/>
              </a:rPr>
              <a:t>— BPM Regresyon Çıktısı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 Light"/>
              </a:rPr>
              <a:t>— Test-Time Augmentation (TTA ×5)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 Light"/>
              </a:rPr>
              <a:t>— FastAPI REST Endpoint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074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 Light"/>
              </a:rPr>
              <a:t>— PM2 Production 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03 — Model Mimarisi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 Light"/>
              </a:rPr>
              <a:t>Hibrit CNN v4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Input  (12 × 1292 ×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84248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Conv2D(64, 3×7)  +  BN  +  LeakyReLU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973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ResBlock(64) + SE Attention  →  MaxPool(1×4)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ResBlock(128) + SE Attention  →  MaxPool(1×4)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10712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ResBlock(256) + SE Attention  →  MaxPool(1×4)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ResBlock(256) + SE 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61688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CCCC"/>
                </a:solidFill>
                <a:latin typeface="Calibri"/>
              </a:rPr>
              <a:t>GAP  ║  GMP   ← paralel dallar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37176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"/>
              </a:rPr>
              <a:t>Concatenate  →  Dense(256)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12664"/>
            <a:ext cx="6858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Key Output (24, softmax)  ║  BPM Output (1, linear)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463040"/>
            <a:ext cx="3474720" cy="100584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858K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Calibri Light"/>
              </a:rPr>
              <a:t>Parametre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697480"/>
            <a:ext cx="3474720" cy="100584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%47.7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29184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Calibri Light"/>
              </a:rPr>
              <a:t>Val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931920"/>
            <a:ext cx="3474720" cy="100584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9776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~1.9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262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Calibri Light"/>
              </a:rPr>
              <a:t>BPM MAE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5166360"/>
            <a:ext cx="3474720" cy="100584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52120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 Light"/>
              </a:rPr>
              <a:t>858K→3.5MB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7607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Calibri Light"/>
              </a:rPr>
              <a:t>Model Boyutu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04 — Veri Seti &amp; Özellik Çıkarma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 Light"/>
              </a:rPr>
              <a:t>3.817 Etiketli Elektronik Müzik Parçası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39319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Toplam örnek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6916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3.817 şarkı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Ses süresi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848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30 sn / parça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7802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Key sınıf sayısı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7802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24 (12 Majör + 12 Minör)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712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BPM aralığı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712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~100–175 BPM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Kaynak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2644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TrackBang DB + SoundCloud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DB verisi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6576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Yüksek kalite (DJ onaylı)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50791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SC verisi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Gürültülü etiket, train-only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4398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En az örnek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443983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C# Minör — 83 parça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371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En çok örnek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837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G Minör — 275 parça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1554480"/>
            <a:ext cx="5577840" cy="39319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Özellik Çıkarma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19456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 Light"/>
              </a:rPr>
              <a:t>1.  librosa.load  →  y  (22.050 Hz, 30 sn)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70048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 Light"/>
              </a:rPr>
              <a:t>2.  HPSS (margin=3.0)  →  y_harmonic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145536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 Light"/>
              </a:rPr>
              <a:t>3.  chroma_cens  →  (12, T) matris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621024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 Light"/>
              </a:rPr>
              <a:t>4.  Pad/Crop  →  (12, 1292)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09651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 Light"/>
              </a:rPr>
              <a:t>5.  Z-score normalizasyon  →  float32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572000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  <a:latin typeface="Calibri Light"/>
              </a:rPr>
              <a:t>6.  .npy cache kaydı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29200"/>
            <a:ext cx="5212080" cy="27432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0749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 Light"/>
              </a:rPr>
              <a:t>HPSS tek başına +5–10% accuracy artışı sağlar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05 — Eğitim &amp; Augmentasyon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 Light"/>
              </a:rPr>
              <a:t>Eğitim Stratejisi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303520" cy="39319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Hiperparametreler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Optimizatör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9456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Adam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3288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Öğrenme Hızı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53288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Cosine Decay (0.001 → ~0)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71215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Batch Boyutu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71215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095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Max Epoch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209544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120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Early Stopping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547872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patience=20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Key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886200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CatCrossEntropy (smoothing=0.1)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7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BPM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224527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628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Loss Ağırlık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456285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key=1.0, bpm=0.05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0118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Sınıf Ağırlığı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901183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Inverse-frequency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554480"/>
            <a:ext cx="5577840" cy="39319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Augmentasyon Teknikleri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194560"/>
            <a:ext cx="5212080" cy="457200"/>
          </a:xfrm>
          <a:prstGeom prst="rect">
            <a:avLst/>
          </a:prstGeom>
          <a:solidFill>
            <a:srgbClr val="1E1E1E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26771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Pitch Shift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226771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±3 yarım ton  (np.roll)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743200"/>
            <a:ext cx="5212080" cy="457200"/>
          </a:xfrm>
          <a:prstGeom prst="rect">
            <a:avLst/>
          </a:prstGeom>
          <a:solidFill>
            <a:srgbClr val="1E1E1E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8163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Time Masking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8163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0–100 frame sıfırlama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3291839"/>
            <a:ext cx="5212080" cy="457200"/>
          </a:xfrm>
          <a:prstGeom prst="rect">
            <a:avLst/>
          </a:prstGeom>
          <a:solidFill>
            <a:srgbClr val="1E1E1E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36499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Freq. Masking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336499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0–3 chroma bin sıfırlama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840479"/>
            <a:ext cx="5212080" cy="457200"/>
          </a:xfrm>
          <a:prstGeom prst="rect">
            <a:avLst/>
          </a:prstGeom>
          <a:solidFill>
            <a:srgbClr val="1E1E1E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3913631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Gaussian Gürültü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391363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stddev = 0.02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389120"/>
            <a:ext cx="5212080" cy="457200"/>
          </a:xfrm>
          <a:prstGeom prst="rect">
            <a:avLst/>
          </a:prstGeom>
          <a:solidFill>
            <a:srgbClr val="1E1E1E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44622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 Light"/>
              </a:rPr>
              <a:t>TTA (inference)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46227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5 augment × ortalama softmax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06 — Sonuçlar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 Light"/>
              </a:rPr>
              <a:t>v4 Model Performansı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274320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 Light"/>
              </a:rPr>
              <a:t>%47.7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 Light"/>
              </a:rPr>
              <a:t>Validation
Key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45920"/>
            <a:ext cx="274320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 Light"/>
              </a:rPr>
              <a:t>~1.9 BPM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 Light"/>
              </a:rPr>
              <a:t>Validation
BPM 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645920"/>
            <a:ext cx="274320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 Light"/>
              </a:rPr>
              <a:t>11×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 Light"/>
              </a:rPr>
              <a:t>Baseline'dan
İyi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645920"/>
            <a:ext cx="2743200" cy="18288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73736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Calibri Light"/>
              </a:rPr>
              <a:t>858K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5146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0A0A0"/>
                </a:solidFill>
                <a:latin typeface="Calibri Light"/>
              </a:rPr>
              <a:t>Eğitilebilir
Parametre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 Light"/>
              </a:rPr>
              <a:t>Versiyon Karşılaştırması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60520"/>
            <a:ext cx="11247120" cy="347472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87952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 Light"/>
              </a:rPr>
              <a:t>Versiyon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187952"/>
            <a:ext cx="3474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 Light"/>
              </a:rPr>
              <a:t>Mimari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18795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 Light"/>
              </a:rPr>
              <a:t>Val Key Acc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18795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CCCC"/>
                </a:solidFill>
                <a:latin typeface="Calibri Light"/>
              </a:rPr>
              <a:t>Val BPM 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0799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v1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450799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3-blok CNN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5079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%35.3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50799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~2.7 BPM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87375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Residual + 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873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~%40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487375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~2.2 BPM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3951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v3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23951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Dual-branch (başarısız)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2395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23951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568696"/>
            <a:ext cx="11247120" cy="365760"/>
          </a:xfrm>
          <a:prstGeom prst="rect">
            <a:avLst/>
          </a:prstGeom>
          <a:solidFill>
            <a:srgbClr val="1E1E1E"/>
          </a:solidFill>
          <a:ln w="635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605272"/>
            <a:ext cx="1737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v4 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605272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Hibrit GAP+GMP + TTA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6052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47.7%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56052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 Light"/>
              </a:rPr>
              <a:t>~1.9 BPM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07 — Sistem Entegrasyonu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 Light"/>
              </a:rPr>
              <a:t>TrackBang Üretim Sistemi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2743200" cy="11887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Flutter
iOS / Android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Mobil Uygulama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103120"/>
            <a:ext cx="2743200" cy="11887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Node.js
Express + MongoDB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80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2743200" cy="11887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08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CUE AI
Groq 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AI Asistanı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2834640"/>
            <a:ext cx="2743200" cy="11887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 Light"/>
              </a:rPr>
              <a:t>Key/BPM API
FastAPI + TF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6118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Bu Proje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5603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0A0A0"/>
                </a:solidFill>
                <a:latin typeface="Calibri Light"/>
              </a:rPr>
              <a:t>HTTP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Calibri Light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0A0A0"/>
                </a:solidFill>
                <a:latin typeface="Calibri Light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11247120" cy="118872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 Light"/>
              </a:rPr>
              <a:t>Canlı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74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🌐  trackbang.com/analyze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79" y="5074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📱  App Store  |  Google 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458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⚙️   72.62.63.184  —  FastAPI + PM2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79" y="54589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0A0A0"/>
                </a:solidFill>
                <a:latin typeface="Calibri Light"/>
              </a:rPr>
              <a:t>📡  POST /api/analyze/upload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A0A0"/>
                </a:solidFill>
                <a:latin typeface="Calibri Light"/>
              </a:rPr>
              <a:t>TrackBang Audio Intelligence  ·  Yusuf Kerim Sarıtaş  ·  Samsun Üniversitesi  ·  2025–2026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08 — Gelecek Vizyon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 Light"/>
              </a:rPr>
              <a:t>Enterprise Mekan AI Platformu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0A0A0"/>
                </a:solidFill>
                <a:latin typeface="Calibri Light"/>
              </a:rPr>
              <a:t>AI ile üretilen + harmonik olarak sıralanan arka plan müziği — her mekan için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2743200" cy="32004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 Light"/>
              </a:rPr>
              <a:t>Kafeler &amp;
Restoranlar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34640"/>
            <a:ext cx="2286000" cy="182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MESAM sorunu yok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Harmonik geçişler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₺399/ay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743200" cy="32004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1488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 Light"/>
              </a:rPr>
              <a:t>Perakende
Zincirleri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2834640"/>
            <a:ext cx="2286000" cy="182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LCW, DeFacto, Boyner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Tek dashboard, tüm şubeler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Marka ses kimliği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011680"/>
            <a:ext cx="2743200" cy="32004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 Light"/>
              </a:rPr>
              <a:t>Otel &amp;
Spa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834640"/>
            <a:ext cx="2286000" cy="182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Premium konumlanma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Enerji eğrisi yönetimi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₺2.000-8.000/ay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2011680"/>
            <a:ext cx="2743200" cy="3200400"/>
          </a:xfrm>
          <a:prstGeom prst="rect">
            <a:avLst/>
          </a:prstGeom>
          <a:solidFill>
            <a:srgbClr val="141414"/>
          </a:solidFill>
          <a:ln w="9525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0" y="214884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 Light"/>
              </a:rPr>
              <a:t>Hastane &amp;
Klinik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72600" y="2834640"/>
            <a:ext cx="2286000" cy="182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92608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Hasta kaygısını %37 azaltır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(NIH 2023)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A0A0A0"/>
                </a:solidFill>
                <a:latin typeface="Calibri Light"/>
              </a:rPr>
              <a:t>Hiç rakip yok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40680"/>
            <a:ext cx="11247120" cy="3657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5896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CCCCCC"/>
                </a:solidFill>
                <a:latin typeface="Calibri Light"/>
              </a:rPr>
              <a:t>Türkiye TAM: ~594.500 mekan  ·  3. Yıl Hedef: 8.900 mekan  ·  Yıllık Gelir Potansiyeli: ₺53M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0A0A0"/>
                </a:solidFill>
                <a:latin typeface="Calibri Light"/>
              </a:rPr>
              <a:t>Özet &amp; Katkılar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 Light"/>
              </a:rPr>
              <a:t>Sonuç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40280"/>
            <a:ext cx="4572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 Light"/>
              </a:rPr>
              <a:t>✓  Elektronik müziğe özel ilk açık kaynak key/BPM modeli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 Light"/>
              </a:rPr>
              <a:t>✓  Camelot wheel uyumlu 24 sınıflı tahmin sistemi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 Light"/>
              </a:rPr>
              <a:t>✓  HPSS + Chroma CENS kombinasyonu — DJ müziğine özgün uygulama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 Light"/>
              </a:rPr>
              <a:t>✓  Gerçek üretim ortamında çalışan sistem (TrackBang 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34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  <a:latin typeface="Calibri Light"/>
              </a:rPr>
              <a:t>✓  CUE AI ile uçtan uca harmonik set oluşturma pipeline'ı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0A0A0"/>
                </a:solidFill>
                <a:latin typeface="Calibri Light"/>
              </a:rPr>
              <a:t>✓  Enterprise mekan AI vizyon belgesi — özgün araştırma soruları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828800"/>
            <a:ext cx="2286000" cy="3200400"/>
          </a:xfrm>
          <a:prstGeom prst="rect">
            <a:avLst/>
          </a:prstGeom>
          <a:solidFill>
            <a:srgbClr val="141414"/>
          </a:solidFill>
          <a:ln w="12700">
            <a:solidFill>
              <a:srgbClr val="3A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9659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 Light"/>
              </a:rPr>
              <a:t>%47.7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Calibri Light"/>
              </a:rPr>
              <a:t>Key Acc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9718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 Light"/>
              </a:rPr>
              <a:t>~1.9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Calibri Light"/>
              </a:rPr>
              <a:t>BPM 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977639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 Light"/>
              </a:rPr>
              <a:t>858K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45719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0A0A0"/>
                </a:solidFill>
                <a:latin typeface="Calibri Light"/>
              </a:rPr>
              <a:t>Parametre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263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Calibri Light"/>
              </a:rPr>
              <a:t>github.com/yusuf7855/trackbang-key-detection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1672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0A0A0"/>
                </a:solidFill>
                <a:latin typeface="Calibri Light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